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Be Vietnam" charset="1" panose="00000500000000000000"/>
      <p:regular r:id="rId18"/>
    </p:embeddedFont>
    <p:embeddedFont>
      <p:font typeface="Roca Two Bold" charset="1" panose="00000800000000000000"/>
      <p:regular r:id="rId19"/>
    </p:embeddedFont>
    <p:embeddedFont>
      <p:font typeface="Roca Two" charset="1" panose="00000500000000000000"/>
      <p:regular r:id="rId20"/>
    </p:embeddedFont>
    <p:embeddedFont>
      <p:font typeface="Be Vietnam Ultra-Bold" charset="1" panose="000009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www.linkedin.com/in/shaikat702" TargetMode="External" Type="http://schemas.openxmlformats.org/officeDocument/2006/relationships/hyperlink"/><Relationship Id="rId3" Target="http://www.linkedin.com/in/shaikat702" TargetMode="External" Type="http://schemas.openxmlformats.org/officeDocument/2006/relationships/hyperlink"/><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29875" y="666750"/>
            <a:ext cx="7191375" cy="8953500"/>
            <a:chOff x="0" y="0"/>
            <a:chExt cx="1274296" cy="1586541"/>
          </a:xfrm>
        </p:grpSpPr>
        <p:sp>
          <p:nvSpPr>
            <p:cNvPr name="Freeform 3" id="3"/>
            <p:cNvSpPr/>
            <p:nvPr/>
          </p:nvSpPr>
          <p:spPr>
            <a:xfrm flipH="false" flipV="false" rot="0">
              <a:off x="0" y="0"/>
              <a:ext cx="1274296" cy="1586541"/>
            </a:xfrm>
            <a:custGeom>
              <a:avLst/>
              <a:gdLst/>
              <a:ahLst/>
              <a:cxnLst/>
              <a:rect r="r" b="b" t="t" l="l"/>
              <a:pathLst>
                <a:path h="1586541" w="1274296">
                  <a:moveTo>
                    <a:pt x="29067" y="0"/>
                  </a:moveTo>
                  <a:lnTo>
                    <a:pt x="1245229" y="0"/>
                  </a:lnTo>
                  <a:cubicBezTo>
                    <a:pt x="1261283" y="0"/>
                    <a:pt x="1274296" y="13014"/>
                    <a:pt x="1274296" y="29067"/>
                  </a:cubicBezTo>
                  <a:lnTo>
                    <a:pt x="1274296" y="1557474"/>
                  </a:lnTo>
                  <a:cubicBezTo>
                    <a:pt x="1274296" y="1565183"/>
                    <a:pt x="1271234" y="1572576"/>
                    <a:pt x="1265783" y="1578028"/>
                  </a:cubicBezTo>
                  <a:cubicBezTo>
                    <a:pt x="1260332" y="1583479"/>
                    <a:pt x="1252938" y="1586541"/>
                    <a:pt x="1245229" y="1586541"/>
                  </a:cubicBezTo>
                  <a:lnTo>
                    <a:pt x="29067" y="1586541"/>
                  </a:lnTo>
                  <a:cubicBezTo>
                    <a:pt x="21358" y="1586541"/>
                    <a:pt x="13965" y="1583479"/>
                    <a:pt x="8514" y="1578028"/>
                  </a:cubicBezTo>
                  <a:cubicBezTo>
                    <a:pt x="3062" y="1572576"/>
                    <a:pt x="0" y="1565183"/>
                    <a:pt x="0" y="1557474"/>
                  </a:cubicBezTo>
                  <a:lnTo>
                    <a:pt x="0" y="29067"/>
                  </a:lnTo>
                  <a:cubicBezTo>
                    <a:pt x="0" y="21358"/>
                    <a:pt x="3062" y="13965"/>
                    <a:pt x="8514" y="8514"/>
                  </a:cubicBezTo>
                  <a:cubicBezTo>
                    <a:pt x="13965" y="3062"/>
                    <a:pt x="21358" y="0"/>
                    <a:pt x="29067" y="0"/>
                  </a:cubicBezTo>
                  <a:close/>
                </a:path>
              </a:pathLst>
            </a:custGeom>
            <a:blipFill>
              <a:blip r:embed="rId2"/>
              <a:stretch>
                <a:fillRect l="0" t="-199" r="0" b="-199"/>
              </a:stretch>
            </a:blipFill>
          </p:spPr>
        </p:sp>
      </p:grpSp>
      <p:sp>
        <p:nvSpPr>
          <p:cNvPr name="TextBox 4" id="4"/>
          <p:cNvSpPr txBox="true"/>
          <p:nvPr/>
        </p:nvSpPr>
        <p:spPr>
          <a:xfrm rot="0">
            <a:off x="666750" y="9138920"/>
            <a:ext cx="8324850" cy="481330"/>
          </a:xfrm>
          <a:prstGeom prst="rect">
            <a:avLst/>
          </a:prstGeom>
        </p:spPr>
        <p:txBody>
          <a:bodyPr anchor="t" rtlCol="false" tIns="0" lIns="0" bIns="0" rIns="0">
            <a:spAutoFit/>
          </a:bodyPr>
          <a:lstStyle/>
          <a:p>
            <a:pPr algn="ctr" marL="0" indent="0" lvl="0">
              <a:lnSpc>
                <a:spcPts val="3919"/>
              </a:lnSpc>
              <a:spcBef>
                <a:spcPct val="0"/>
              </a:spcBef>
            </a:pPr>
            <a:r>
              <a:rPr lang="en-US" sz="2799" spc="55">
                <a:solidFill>
                  <a:srgbClr val="2A2A2A"/>
                </a:solidFill>
                <a:latin typeface="Be Vietnam"/>
                <a:ea typeface="Be Vietnam"/>
                <a:cs typeface="Be Vietnam"/>
                <a:sym typeface="Be Vietnam"/>
              </a:rPr>
              <a:t>PRESENTED BY [MD.SHARIAR EMON SHAIKAT]</a:t>
            </a:r>
          </a:p>
        </p:txBody>
      </p:sp>
      <p:sp>
        <p:nvSpPr>
          <p:cNvPr name="TextBox 5" id="5"/>
          <p:cNvSpPr txBox="true"/>
          <p:nvPr/>
        </p:nvSpPr>
        <p:spPr>
          <a:xfrm rot="0">
            <a:off x="666750" y="619125"/>
            <a:ext cx="8324850" cy="471727"/>
          </a:xfrm>
          <a:prstGeom prst="rect">
            <a:avLst/>
          </a:prstGeom>
        </p:spPr>
        <p:txBody>
          <a:bodyPr anchor="t" rtlCol="false" tIns="0" lIns="0" bIns="0" rIns="0">
            <a:spAutoFit/>
          </a:bodyPr>
          <a:lstStyle/>
          <a:p>
            <a:pPr algn="ctr" marL="0" indent="0" lvl="0">
              <a:lnSpc>
                <a:spcPts val="3924"/>
              </a:lnSpc>
              <a:spcBef>
                <a:spcPct val="0"/>
              </a:spcBef>
            </a:pPr>
            <a:r>
              <a:rPr lang="en-US" b="true" sz="2803">
                <a:solidFill>
                  <a:srgbClr val="616161"/>
                </a:solidFill>
                <a:latin typeface="Roca Two Bold"/>
                <a:ea typeface="Roca Two Bold"/>
                <a:cs typeface="Roca Two Bold"/>
                <a:sym typeface="Roca Two Bold"/>
              </a:rPr>
              <a:t>INTRODUCTION</a:t>
            </a:r>
          </a:p>
        </p:txBody>
      </p:sp>
      <p:grpSp>
        <p:nvGrpSpPr>
          <p:cNvPr name="Group 6" id="6"/>
          <p:cNvGrpSpPr/>
          <p:nvPr/>
        </p:nvGrpSpPr>
        <p:grpSpPr>
          <a:xfrm rot="0">
            <a:off x="666750" y="1624307"/>
            <a:ext cx="8324850" cy="6745341"/>
            <a:chOff x="0" y="0"/>
            <a:chExt cx="11099800" cy="8993789"/>
          </a:xfrm>
        </p:grpSpPr>
        <p:sp>
          <p:nvSpPr>
            <p:cNvPr name="TextBox 7" id="7"/>
            <p:cNvSpPr txBox="true"/>
            <p:nvPr/>
          </p:nvSpPr>
          <p:spPr>
            <a:xfrm rot="0">
              <a:off x="0" y="180975"/>
              <a:ext cx="11099800" cy="8009672"/>
            </a:xfrm>
            <a:prstGeom prst="rect">
              <a:avLst/>
            </a:prstGeom>
          </p:spPr>
          <p:txBody>
            <a:bodyPr anchor="t" rtlCol="false" tIns="0" lIns="0" bIns="0" rIns="0">
              <a:spAutoFit/>
            </a:bodyPr>
            <a:lstStyle/>
            <a:p>
              <a:pPr algn="ctr" marL="0" indent="0" lvl="0">
                <a:lnSpc>
                  <a:spcPts val="9349"/>
                </a:lnSpc>
              </a:pPr>
              <a:r>
                <a:rPr lang="en-US" sz="9349">
                  <a:solidFill>
                    <a:srgbClr val="2A2A2A"/>
                  </a:solidFill>
                  <a:latin typeface="Roca Two"/>
                  <a:ea typeface="Roca Two"/>
                  <a:cs typeface="Roca Two"/>
                  <a:sym typeface="Roca Two"/>
                </a:rPr>
                <a:t>Class 01: Introduction to Data Science and AI/ML</a:t>
              </a:r>
            </a:p>
          </p:txBody>
        </p:sp>
        <p:sp>
          <p:nvSpPr>
            <p:cNvPr name="Freeform 8" id="8"/>
            <p:cNvSpPr/>
            <p:nvPr/>
          </p:nvSpPr>
          <p:spPr>
            <a:xfrm flipH="false" flipV="false" rot="0">
              <a:off x="4309308" y="8282074"/>
              <a:ext cx="707832" cy="711714"/>
            </a:xfrm>
            <a:custGeom>
              <a:avLst/>
              <a:gdLst/>
              <a:ahLst/>
              <a:cxnLst/>
              <a:rect r="r" b="b" t="t" l="l"/>
              <a:pathLst>
                <a:path h="711714" w="707832">
                  <a:moveTo>
                    <a:pt x="0" y="0"/>
                  </a:moveTo>
                  <a:lnTo>
                    <a:pt x="707832" y="0"/>
                  </a:lnTo>
                  <a:lnTo>
                    <a:pt x="707832" y="711715"/>
                  </a:lnTo>
                  <a:lnTo>
                    <a:pt x="0" y="7117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194079" y="8282074"/>
              <a:ext cx="707832" cy="711714"/>
            </a:xfrm>
            <a:custGeom>
              <a:avLst/>
              <a:gdLst/>
              <a:ahLst/>
              <a:cxnLst/>
              <a:rect r="r" b="b" t="t" l="l"/>
              <a:pathLst>
                <a:path h="711714" w="707832">
                  <a:moveTo>
                    <a:pt x="0" y="0"/>
                  </a:moveTo>
                  <a:lnTo>
                    <a:pt x="707832" y="0"/>
                  </a:lnTo>
                  <a:lnTo>
                    <a:pt x="707832" y="711715"/>
                  </a:lnTo>
                  <a:lnTo>
                    <a:pt x="0" y="7117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6082660" y="8282074"/>
              <a:ext cx="707832" cy="711714"/>
            </a:xfrm>
            <a:custGeom>
              <a:avLst/>
              <a:gdLst/>
              <a:ahLst/>
              <a:cxnLst/>
              <a:rect r="r" b="b" t="t" l="l"/>
              <a:pathLst>
                <a:path h="711714" w="707832">
                  <a:moveTo>
                    <a:pt x="0" y="0"/>
                  </a:moveTo>
                  <a:lnTo>
                    <a:pt x="707832" y="0"/>
                  </a:lnTo>
                  <a:lnTo>
                    <a:pt x="707832" y="711715"/>
                  </a:lnTo>
                  <a:lnTo>
                    <a:pt x="0" y="7117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1083574" cy="1822834"/>
          </a:xfrm>
        </p:grpSpPr>
        <p:sp>
          <p:nvSpPr>
            <p:cNvPr name="Freeform 3" id="3"/>
            <p:cNvSpPr/>
            <p:nvPr/>
          </p:nvSpPr>
          <p:spPr>
            <a:xfrm flipH="false" flipV="false" rot="0">
              <a:off x="0" y="0"/>
              <a:ext cx="1083574" cy="1822834"/>
            </a:xfrm>
            <a:custGeom>
              <a:avLst/>
              <a:gdLst/>
              <a:ahLst/>
              <a:cxnLst/>
              <a:rect r="r" b="b" t="t" l="l"/>
              <a:pathLst>
                <a:path h="1822834" w="1083574">
                  <a:moveTo>
                    <a:pt x="0" y="0"/>
                  </a:moveTo>
                  <a:lnTo>
                    <a:pt x="1083574" y="0"/>
                  </a:lnTo>
                  <a:lnTo>
                    <a:pt x="1083574" y="1822834"/>
                  </a:lnTo>
                  <a:lnTo>
                    <a:pt x="0" y="1822834"/>
                  </a:lnTo>
                  <a:close/>
                </a:path>
              </a:pathLst>
            </a:custGeom>
            <a:blipFill>
              <a:blip r:embed="rId2"/>
              <a:stretch>
                <a:fillRect l="0" t="-58" r="0" b="-58"/>
              </a:stretch>
            </a:blipFill>
          </p:spPr>
        </p:sp>
      </p:grpSp>
      <p:sp>
        <p:nvSpPr>
          <p:cNvPr name="TextBox 4" id="4"/>
          <p:cNvSpPr txBox="true"/>
          <p:nvPr/>
        </p:nvSpPr>
        <p:spPr>
          <a:xfrm rot="0">
            <a:off x="666750" y="657225"/>
            <a:ext cx="9763125" cy="1095375"/>
          </a:xfrm>
          <a:prstGeom prst="rect">
            <a:avLst/>
          </a:prstGeom>
        </p:spPr>
        <p:txBody>
          <a:bodyPr anchor="t" rtlCol="false" tIns="0" lIns="0" bIns="0" rIns="0">
            <a:spAutoFit/>
          </a:bodyPr>
          <a:lstStyle/>
          <a:p>
            <a:pPr algn="l" marL="0" indent="0" lvl="0">
              <a:lnSpc>
                <a:spcPts val="8612"/>
              </a:lnSpc>
            </a:pPr>
            <a:r>
              <a:rPr lang="en-US" sz="7177">
                <a:solidFill>
                  <a:srgbClr val="2A2A2A"/>
                </a:solidFill>
                <a:latin typeface="Roca Two"/>
                <a:ea typeface="Roca Two"/>
                <a:cs typeface="Roca Two"/>
                <a:sym typeface="Roca Two"/>
              </a:rPr>
              <a:t>Data Science Overview</a:t>
            </a:r>
          </a:p>
        </p:txBody>
      </p:sp>
      <p:sp>
        <p:nvSpPr>
          <p:cNvPr name="TextBox 5" id="5"/>
          <p:cNvSpPr txBox="true"/>
          <p:nvPr/>
        </p:nvSpPr>
        <p:spPr>
          <a:xfrm rot="0">
            <a:off x="698975" y="3314700"/>
            <a:ext cx="3977800" cy="5021580"/>
          </a:xfrm>
          <a:prstGeom prst="rect">
            <a:avLst/>
          </a:prstGeom>
        </p:spPr>
        <p:txBody>
          <a:bodyPr anchor="t" rtlCol="false" tIns="0" lIns="0" bIns="0" rIns="0">
            <a:spAutoFit/>
          </a:bodyPr>
          <a:lstStyle/>
          <a:p>
            <a:pPr algn="l" marL="0" indent="0" lvl="0">
              <a:lnSpc>
                <a:spcPts val="2519"/>
              </a:lnSpc>
            </a:pPr>
            <a:r>
              <a:rPr lang="en-US" sz="1799" spc="35">
                <a:solidFill>
                  <a:srgbClr val="2A2A2A"/>
                </a:solidFill>
                <a:latin typeface="Be Vietnam"/>
                <a:ea typeface="Be Vietnam"/>
                <a:cs typeface="Be Vietnam"/>
                <a:sym typeface="Be Vietnam"/>
              </a:rPr>
              <a:t>Data Science is a multidisciplinary field that combines statistics, data analysis, and machine learning to extract insights from structured and unstructured data. It plays a crucial role in decision-making processes for businesses and organizations, enabling them to predict outcomes and improve efficiency. The key components of Data Science include data collection, processing, analysis, and visualization, which together help in deriving actionable intelligence and understanding complex phenomena.</a:t>
            </a:r>
          </a:p>
        </p:txBody>
      </p:sp>
      <p:sp>
        <p:nvSpPr>
          <p:cNvPr name="TextBox 6" id="6"/>
          <p:cNvSpPr txBox="true"/>
          <p:nvPr/>
        </p:nvSpPr>
        <p:spPr>
          <a:xfrm rot="0">
            <a:off x="5013800" y="3314700"/>
            <a:ext cx="3977800" cy="5021580"/>
          </a:xfrm>
          <a:prstGeom prst="rect">
            <a:avLst/>
          </a:prstGeom>
        </p:spPr>
        <p:txBody>
          <a:bodyPr anchor="t" rtlCol="false" tIns="0" lIns="0" bIns="0" rIns="0">
            <a:spAutoFit/>
          </a:bodyPr>
          <a:lstStyle/>
          <a:p>
            <a:pPr algn="l" marL="0" indent="0" lvl="0">
              <a:lnSpc>
                <a:spcPts val="2519"/>
              </a:lnSpc>
            </a:pPr>
            <a:r>
              <a:rPr lang="en-US" sz="1799" spc="35">
                <a:solidFill>
                  <a:srgbClr val="2A2A2A"/>
                </a:solidFill>
                <a:latin typeface="Be Vietnam"/>
                <a:ea typeface="Be Vietnam"/>
                <a:cs typeface="Be Vietnam"/>
                <a:sym typeface="Be Vietnam"/>
              </a:rPr>
              <a:t>The importance of Data Science cannot be overstated; it drives innovations in various sectors, such as healthcare, finance, and marketing. By leveraging algorithms and computational techniques, Data Scientists can uncover hidden patterns and trends in large datasets. Moreover, Data Science helps in automating processes and enhancing user experiences, making it an essential skill in the digital age. Its integration with AI and machine learning further amplifies its impact across industries.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8161584"/>
            <a:ext cx="6886575" cy="1458666"/>
            <a:chOff x="0" y="0"/>
            <a:chExt cx="9182100" cy="1944888"/>
          </a:xfrm>
        </p:grpSpPr>
        <p:sp>
          <p:nvSpPr>
            <p:cNvPr name="TextBox 5" id="5"/>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Understanding the essence of Artificial Intelligence</a:t>
              </a:r>
            </a:p>
          </p:txBody>
        </p:sp>
        <p:sp>
          <p:nvSpPr>
            <p:cNvPr name="TextBox 6" id="6"/>
            <p:cNvSpPr txBox="true"/>
            <p:nvPr/>
          </p:nvSpPr>
          <p:spPr>
            <a:xfrm rot="0">
              <a:off x="0" y="7104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2A2A2A"/>
                  </a:solidFill>
                  <a:latin typeface="Be Vietnam"/>
                  <a:ea typeface="Be Vietnam"/>
                  <a:cs typeface="Be Vietnam"/>
                  <a:sym typeface="Be Vietnam"/>
                </a:rPr>
                <a:t>This illustration conveys the </a:t>
              </a:r>
              <a:r>
                <a:rPr lang="en-US" b="true" sz="1800" spc="36">
                  <a:solidFill>
                    <a:srgbClr val="2A2A2A"/>
                  </a:solidFill>
                  <a:latin typeface="Be Vietnam Ultra-Bold"/>
                  <a:ea typeface="Be Vietnam Ultra-Bold"/>
                  <a:cs typeface="Be Vietnam Ultra-Bold"/>
                  <a:sym typeface="Be Vietnam Ultra-Bold"/>
                </a:rPr>
                <a:t>interconnectedness</a:t>
              </a:r>
              <a:r>
                <a:rPr lang="en-US" sz="1800" spc="36">
                  <a:solidFill>
                    <a:srgbClr val="2A2A2A"/>
                  </a:solidFill>
                  <a:latin typeface="Be Vietnam"/>
                  <a:ea typeface="Be Vietnam"/>
                  <a:cs typeface="Be Vietnam"/>
                  <a:sym typeface="Be Vietnam"/>
                </a:rPr>
                <a:t> of AI systems and their role in simulating human intelligence through complex algorithms and data processing.</a:t>
              </a:r>
            </a:p>
          </p:txBody>
        </p:sp>
      </p:grpSp>
      <p:sp>
        <p:nvSpPr>
          <p:cNvPr name="TextBox 7" id="7"/>
          <p:cNvSpPr txBox="true"/>
          <p:nvPr/>
        </p:nvSpPr>
        <p:spPr>
          <a:xfrm rot="0">
            <a:off x="7858125" y="838200"/>
            <a:ext cx="9763125" cy="1120774"/>
          </a:xfrm>
          <a:prstGeom prst="rect">
            <a:avLst/>
          </a:prstGeom>
        </p:spPr>
        <p:txBody>
          <a:bodyPr anchor="t" rtlCol="false" tIns="0" lIns="0" bIns="0" rIns="0">
            <a:spAutoFit/>
          </a:bodyPr>
          <a:lstStyle/>
          <a:p>
            <a:pPr algn="l" marL="0" indent="0" lvl="0">
              <a:lnSpc>
                <a:spcPts val="8499"/>
              </a:lnSpc>
            </a:pPr>
            <a:r>
              <a:rPr lang="en-US" sz="8499">
                <a:solidFill>
                  <a:srgbClr val="2A2A2A"/>
                </a:solidFill>
                <a:latin typeface="Roca Two"/>
                <a:ea typeface="Roca Two"/>
                <a:cs typeface="Roca Two"/>
                <a:sym typeface="Roca Two"/>
              </a:rPr>
              <a:t>AI Fundamentals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8161584"/>
            <a:ext cx="6886575" cy="1458666"/>
            <a:chOff x="0" y="0"/>
            <a:chExt cx="9182100" cy="1944888"/>
          </a:xfrm>
        </p:grpSpPr>
        <p:sp>
          <p:nvSpPr>
            <p:cNvPr name="TextBox 5" id="5"/>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Understanding the ML Workflow and Processes</a:t>
              </a:r>
            </a:p>
          </p:txBody>
        </p:sp>
        <p:sp>
          <p:nvSpPr>
            <p:cNvPr name="TextBox 6" id="6"/>
            <p:cNvSpPr txBox="true"/>
            <p:nvPr/>
          </p:nvSpPr>
          <p:spPr>
            <a:xfrm rot="0">
              <a:off x="0" y="7104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2A2A2A"/>
                  </a:solidFill>
                  <a:latin typeface="Be Vietnam"/>
                  <a:ea typeface="Be Vietnam"/>
                  <a:cs typeface="Be Vietnam"/>
                  <a:sym typeface="Be Vietnam"/>
                </a:rPr>
                <a:t>This illustration captures the </a:t>
              </a:r>
              <a:r>
                <a:rPr lang="en-US" b="true" sz="1800" spc="36">
                  <a:solidFill>
                    <a:srgbClr val="2A2A2A"/>
                  </a:solidFill>
                  <a:latin typeface="Be Vietnam Ultra-Bold"/>
                  <a:ea typeface="Be Vietnam Ultra-Bold"/>
                  <a:cs typeface="Be Vietnam Ultra-Bold"/>
                  <a:sym typeface="Be Vietnam Ultra-Bold"/>
                </a:rPr>
                <a:t>core components</a:t>
              </a:r>
              <a:r>
                <a:rPr lang="en-US" sz="1800" spc="36">
                  <a:solidFill>
                    <a:srgbClr val="2A2A2A"/>
                  </a:solidFill>
                  <a:latin typeface="Be Vietnam"/>
                  <a:ea typeface="Be Vietnam"/>
                  <a:cs typeface="Be Vietnam"/>
                  <a:sym typeface="Be Vietnam"/>
                </a:rPr>
                <a:t> of machine learning, showcasing how data is transformed into insights through various algorithms.</a:t>
              </a:r>
            </a:p>
          </p:txBody>
        </p:sp>
      </p:grpSp>
      <p:sp>
        <p:nvSpPr>
          <p:cNvPr name="TextBox 7" id="7"/>
          <p:cNvSpPr txBox="true"/>
          <p:nvPr/>
        </p:nvSpPr>
        <p:spPr>
          <a:xfrm rot="0">
            <a:off x="7858125" y="838200"/>
            <a:ext cx="9763125" cy="2197099"/>
          </a:xfrm>
          <a:prstGeom prst="rect">
            <a:avLst/>
          </a:prstGeom>
        </p:spPr>
        <p:txBody>
          <a:bodyPr anchor="t" rtlCol="false" tIns="0" lIns="0" bIns="0" rIns="0">
            <a:spAutoFit/>
          </a:bodyPr>
          <a:lstStyle/>
          <a:p>
            <a:pPr algn="l" marL="0" indent="0" lvl="0">
              <a:lnSpc>
                <a:spcPts val="8499"/>
              </a:lnSpc>
            </a:pPr>
            <a:r>
              <a:rPr lang="en-US" sz="8499">
                <a:solidFill>
                  <a:srgbClr val="2A2A2A"/>
                </a:solidFill>
                <a:latin typeface="Roca Two"/>
                <a:ea typeface="Roca Two"/>
                <a:cs typeface="Roca Two"/>
                <a:sym typeface="Roca Two"/>
              </a:rPr>
              <a:t>Machine Learning Essentials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7790109"/>
            <a:ext cx="6886575" cy="1830141"/>
            <a:chOff x="0" y="0"/>
            <a:chExt cx="9182100" cy="2440188"/>
          </a:xfrm>
        </p:grpSpPr>
        <p:sp>
          <p:nvSpPr>
            <p:cNvPr name="TextBox 5" id="5"/>
            <p:cNvSpPr txBox="true"/>
            <p:nvPr/>
          </p:nvSpPr>
          <p:spPr>
            <a:xfrm rot="0">
              <a:off x="0" y="-38100"/>
              <a:ext cx="9182100" cy="9575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Understanding neural networks and their applications</a:t>
              </a:r>
            </a:p>
          </p:txBody>
        </p:sp>
        <p:sp>
          <p:nvSpPr>
            <p:cNvPr name="TextBox 6" id="6"/>
            <p:cNvSpPr txBox="true"/>
            <p:nvPr/>
          </p:nvSpPr>
          <p:spPr>
            <a:xfrm rot="0">
              <a:off x="0" y="12057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2A2A2A"/>
                  </a:solidFill>
                  <a:latin typeface="Be Vietnam"/>
                  <a:ea typeface="Be Vietnam"/>
                  <a:cs typeface="Be Vietnam"/>
                  <a:sym typeface="Be Vietnam"/>
                </a:rPr>
                <a:t>This illustration represents the structure of deep learning, showcasing how multiple layers of neurons work together to process data effectively.</a:t>
              </a:r>
            </a:p>
          </p:txBody>
        </p:sp>
      </p:grpSp>
      <p:sp>
        <p:nvSpPr>
          <p:cNvPr name="TextBox 7" id="7"/>
          <p:cNvSpPr txBox="true"/>
          <p:nvPr/>
        </p:nvSpPr>
        <p:spPr>
          <a:xfrm rot="0">
            <a:off x="7858125" y="838200"/>
            <a:ext cx="9763125" cy="2197099"/>
          </a:xfrm>
          <a:prstGeom prst="rect">
            <a:avLst/>
          </a:prstGeom>
        </p:spPr>
        <p:txBody>
          <a:bodyPr anchor="t" rtlCol="false" tIns="0" lIns="0" bIns="0" rIns="0">
            <a:spAutoFit/>
          </a:bodyPr>
          <a:lstStyle/>
          <a:p>
            <a:pPr algn="l" marL="0" indent="0" lvl="0">
              <a:lnSpc>
                <a:spcPts val="8499"/>
              </a:lnSpc>
            </a:pPr>
            <a:r>
              <a:rPr lang="en-US" sz="8499">
                <a:solidFill>
                  <a:srgbClr val="2A2A2A"/>
                </a:solidFill>
                <a:latin typeface="Roca Two"/>
                <a:ea typeface="Roca Two"/>
                <a:cs typeface="Roca Two"/>
                <a:sym typeface="Roca Two"/>
              </a:rPr>
              <a:t>Deep Learning Overview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AutoShape 2" id="2"/>
          <p:cNvSpPr/>
          <p:nvPr/>
        </p:nvSpPr>
        <p:spPr>
          <a:xfrm>
            <a:off x="9296400" y="685800"/>
            <a:ext cx="8324850" cy="0"/>
          </a:xfrm>
          <a:prstGeom prst="line">
            <a:avLst/>
          </a:prstGeom>
          <a:ln cap="flat" w="28575">
            <a:solidFill>
              <a:srgbClr val="2A2A2A"/>
            </a:solidFill>
            <a:prstDash val="solid"/>
            <a:headEnd type="none" len="sm" w="sm"/>
            <a:tailEnd type="none" len="sm" w="sm"/>
          </a:ln>
        </p:spPr>
      </p:sp>
      <p:sp>
        <p:nvSpPr>
          <p:cNvPr name="Freeform 3" id="3"/>
          <p:cNvSpPr/>
          <p:nvPr/>
        </p:nvSpPr>
        <p:spPr>
          <a:xfrm flipH="false" flipV="false" rot="0">
            <a:off x="2717858" y="8060757"/>
            <a:ext cx="1550987" cy="1559493"/>
          </a:xfrm>
          <a:custGeom>
            <a:avLst/>
            <a:gdLst/>
            <a:ahLst/>
            <a:cxnLst/>
            <a:rect r="r" b="b" t="t" l="l"/>
            <a:pathLst>
              <a:path h="1559493" w="1550987">
                <a:moveTo>
                  <a:pt x="0" y="0"/>
                </a:moveTo>
                <a:lnTo>
                  <a:pt x="1550986" y="0"/>
                </a:lnTo>
                <a:lnTo>
                  <a:pt x="1550986" y="1559493"/>
                </a:lnTo>
                <a:lnTo>
                  <a:pt x="0" y="1559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38200"/>
            <a:ext cx="6886575" cy="3273424"/>
          </a:xfrm>
          <a:prstGeom prst="rect">
            <a:avLst/>
          </a:prstGeom>
        </p:spPr>
        <p:txBody>
          <a:bodyPr anchor="t" rtlCol="false" tIns="0" lIns="0" bIns="0" rIns="0">
            <a:spAutoFit/>
          </a:bodyPr>
          <a:lstStyle/>
          <a:p>
            <a:pPr algn="l" marL="0" indent="0" lvl="0">
              <a:lnSpc>
                <a:spcPts val="8499"/>
              </a:lnSpc>
            </a:pPr>
            <a:r>
              <a:rPr lang="en-US" sz="8499">
                <a:solidFill>
                  <a:srgbClr val="2A2A2A"/>
                </a:solidFill>
                <a:latin typeface="Roca Two"/>
                <a:ea typeface="Roca Two"/>
                <a:cs typeface="Roca Two"/>
                <a:sym typeface="Roca Two"/>
              </a:rPr>
              <a:t>Learning Types and Algorithms</a:t>
            </a:r>
          </a:p>
        </p:txBody>
      </p:sp>
      <p:grpSp>
        <p:nvGrpSpPr>
          <p:cNvPr name="Group 5" id="5"/>
          <p:cNvGrpSpPr/>
          <p:nvPr/>
        </p:nvGrpSpPr>
        <p:grpSpPr>
          <a:xfrm rot="0">
            <a:off x="9296400" y="1562100"/>
            <a:ext cx="6886575" cy="4774280"/>
            <a:chOff x="0" y="0"/>
            <a:chExt cx="9182100" cy="6365707"/>
          </a:xfrm>
        </p:grpSpPr>
        <p:sp>
          <p:nvSpPr>
            <p:cNvPr name="TextBox 6" id="6"/>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Supervised Learning: Definition and Examples</a:t>
              </a:r>
            </a:p>
          </p:txBody>
        </p:sp>
        <p:sp>
          <p:nvSpPr>
            <p:cNvPr name="TextBox 7" id="7"/>
            <p:cNvSpPr txBox="true"/>
            <p:nvPr/>
          </p:nvSpPr>
          <p:spPr>
            <a:xfrm rot="0">
              <a:off x="0" y="711666"/>
              <a:ext cx="9182100" cy="1653540"/>
            </a:xfrm>
            <a:prstGeom prst="rect">
              <a:avLst/>
            </a:prstGeom>
          </p:spPr>
          <p:txBody>
            <a:bodyPr anchor="t" rtlCol="false" tIns="0" lIns="0" bIns="0" rIns="0">
              <a:spAutoFit/>
            </a:bodyPr>
            <a:lstStyle/>
            <a:p>
              <a:pPr algn="l" marL="0" indent="0" lvl="0">
                <a:lnSpc>
                  <a:spcPts val="2519"/>
                </a:lnSpc>
              </a:pPr>
              <a:r>
                <a:rPr lang="en-US" sz="1799" spc="35">
                  <a:solidFill>
                    <a:srgbClr val="2A2A2A"/>
                  </a:solidFill>
                  <a:latin typeface="Be Vietnam"/>
                  <a:ea typeface="Be Vietnam"/>
                  <a:cs typeface="Be Vietnam"/>
                  <a:sym typeface="Be Vietnam"/>
                </a:rPr>
                <a:t>Supervised learning involves training models on labeled data, where input-output pairs guide the learning process. Common examples include regression and classification tasks.</a:t>
              </a:r>
            </a:p>
          </p:txBody>
        </p:sp>
        <p:sp>
          <p:nvSpPr>
            <p:cNvPr name="TextBox 8" id="8"/>
            <p:cNvSpPr txBox="true"/>
            <p:nvPr/>
          </p:nvSpPr>
          <p:spPr>
            <a:xfrm rot="0">
              <a:off x="0" y="39624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Unsupervised Learning: Definition and Examples</a:t>
              </a:r>
            </a:p>
          </p:txBody>
        </p:sp>
        <p:sp>
          <p:nvSpPr>
            <p:cNvPr name="TextBox 9" id="9"/>
            <p:cNvSpPr txBox="true"/>
            <p:nvPr/>
          </p:nvSpPr>
          <p:spPr>
            <a:xfrm rot="0">
              <a:off x="0" y="4712166"/>
              <a:ext cx="9182100" cy="1653540"/>
            </a:xfrm>
            <a:prstGeom prst="rect">
              <a:avLst/>
            </a:prstGeom>
          </p:spPr>
          <p:txBody>
            <a:bodyPr anchor="t" rtlCol="false" tIns="0" lIns="0" bIns="0" rIns="0">
              <a:spAutoFit/>
            </a:bodyPr>
            <a:lstStyle/>
            <a:p>
              <a:pPr algn="l" marL="0" indent="0" lvl="0">
                <a:lnSpc>
                  <a:spcPts val="2519"/>
                </a:lnSpc>
              </a:pPr>
              <a:r>
                <a:rPr lang="en-US" sz="1799" spc="35">
                  <a:solidFill>
                    <a:srgbClr val="2A2A2A"/>
                  </a:solidFill>
                  <a:latin typeface="Be Vietnam"/>
                  <a:ea typeface="Be Vietnam"/>
                  <a:cs typeface="Be Vietnam"/>
                  <a:sym typeface="Be Vietnam"/>
                </a:rPr>
                <a:t>Unsupervised learning explores data without labeled responses, aiming to identify patterns or groupings. Clustering is a primary technique used to uncover hidden structures in data.</a:t>
              </a:r>
            </a:p>
          </p:txBody>
        </p:sp>
      </p:grpSp>
      <p:sp>
        <p:nvSpPr>
          <p:cNvPr name="Freeform 10" id="10"/>
          <p:cNvSpPr/>
          <p:nvPr/>
        </p:nvSpPr>
        <p:spPr>
          <a:xfrm flipH="false" flipV="false" rot="0">
            <a:off x="666750" y="8060757"/>
            <a:ext cx="1775820" cy="1559493"/>
          </a:xfrm>
          <a:custGeom>
            <a:avLst/>
            <a:gdLst/>
            <a:ahLst/>
            <a:cxnLst/>
            <a:rect r="r" b="b" t="t" l="l"/>
            <a:pathLst>
              <a:path h="1559493" w="1775820">
                <a:moveTo>
                  <a:pt x="0" y="0"/>
                </a:moveTo>
                <a:lnTo>
                  <a:pt x="1775820" y="0"/>
                </a:lnTo>
                <a:lnTo>
                  <a:pt x="1775820" y="1559493"/>
                </a:lnTo>
                <a:lnTo>
                  <a:pt x="0" y="15594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2A2A2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499476"/>
            <a:ext cx="16954500" cy="1120774"/>
          </a:xfrm>
          <a:prstGeom prst="rect">
            <a:avLst/>
          </a:prstGeom>
        </p:spPr>
        <p:txBody>
          <a:bodyPr anchor="t" rtlCol="false" tIns="0" lIns="0" bIns="0" rIns="0">
            <a:spAutoFit/>
          </a:bodyPr>
          <a:lstStyle/>
          <a:p>
            <a:pPr algn="l" marL="0" indent="0" lvl="0">
              <a:lnSpc>
                <a:spcPts val="8499"/>
              </a:lnSpc>
            </a:pPr>
            <a:r>
              <a:rPr lang="en-US" sz="8499">
                <a:solidFill>
                  <a:srgbClr val="2A2A2A"/>
                </a:solidFill>
                <a:latin typeface="Roca Two"/>
                <a:ea typeface="Roca Two"/>
                <a:cs typeface="Roca Two"/>
                <a:sym typeface="Roca Two"/>
              </a:rPr>
              <a:t>Real-World Applications of AI/ML</a:t>
            </a:r>
          </a:p>
        </p:txBody>
      </p:sp>
      <p:grpSp>
        <p:nvGrpSpPr>
          <p:cNvPr name="Group 5" id="5"/>
          <p:cNvGrpSpPr/>
          <p:nvPr/>
        </p:nvGrpSpPr>
        <p:grpSpPr>
          <a:xfrm rot="0">
            <a:off x="9296400"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Healthcare Diagnostics</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2A2A2A"/>
                  </a:solidFill>
                  <a:latin typeface="Be Vietnam"/>
                  <a:ea typeface="Be Vietnam"/>
                  <a:cs typeface="Be Vietnam"/>
                  <a:sym typeface="Be Vietnam"/>
                </a:rPr>
                <a:t>AI algorithms analyze medical images, improving diagnostic accuracy and enabling early detection of diseases.</a:t>
              </a:r>
            </a:p>
          </p:txBody>
        </p:sp>
      </p:grpSp>
      <p:grpSp>
        <p:nvGrpSpPr>
          <p:cNvPr name="Group 8" id="8"/>
          <p:cNvGrpSpPr/>
          <p:nvPr/>
        </p:nvGrpSpPr>
        <p:grpSpPr>
          <a:xfrm rot="0">
            <a:off x="13611225" y="1208474"/>
            <a:ext cx="4010025" cy="1772991"/>
            <a:chOff x="0" y="0"/>
            <a:chExt cx="5346700" cy="23639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Fraud Detection</a:t>
              </a:r>
            </a:p>
          </p:txBody>
        </p:sp>
        <p:sp>
          <p:nvSpPr>
            <p:cNvPr name="TextBox 10" id="10"/>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2A2A2A"/>
                  </a:solidFill>
                  <a:latin typeface="Be Vietnam"/>
                  <a:ea typeface="Be Vietnam"/>
                  <a:cs typeface="Be Vietnam"/>
                  <a:sym typeface="Be Vietnam"/>
                </a:rPr>
                <a:t>Machine learning systems identify fraudulent transactions in real-time, safeguarding financial assets and enhancing security measures.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8324850" cy="4476750"/>
            <a:chOff x="0" y="0"/>
            <a:chExt cx="802163" cy="431369"/>
          </a:xfrm>
        </p:grpSpPr>
        <p:sp>
          <p:nvSpPr>
            <p:cNvPr name="Freeform 3" id="3"/>
            <p:cNvSpPr/>
            <p:nvPr/>
          </p:nvSpPr>
          <p:spPr>
            <a:xfrm flipH="false" flipV="false" rot="0">
              <a:off x="0" y="0"/>
              <a:ext cx="802163" cy="431369"/>
            </a:xfrm>
            <a:custGeom>
              <a:avLst/>
              <a:gdLst/>
              <a:ahLst/>
              <a:cxnLst/>
              <a:rect r="r" b="b" t="t" l="l"/>
              <a:pathLst>
                <a:path h="431369" w="802163">
                  <a:moveTo>
                    <a:pt x="27899" y="0"/>
                  </a:moveTo>
                  <a:lnTo>
                    <a:pt x="774264" y="0"/>
                  </a:lnTo>
                  <a:cubicBezTo>
                    <a:pt x="789672" y="0"/>
                    <a:pt x="802163" y="12491"/>
                    <a:pt x="802163" y="27899"/>
                  </a:cubicBezTo>
                  <a:lnTo>
                    <a:pt x="802163" y="403470"/>
                  </a:lnTo>
                  <a:cubicBezTo>
                    <a:pt x="802163" y="410869"/>
                    <a:pt x="799224" y="417966"/>
                    <a:pt x="793992" y="423198"/>
                  </a:cubicBezTo>
                  <a:cubicBezTo>
                    <a:pt x="788759" y="428430"/>
                    <a:pt x="781663" y="431369"/>
                    <a:pt x="774264" y="431369"/>
                  </a:cubicBezTo>
                  <a:lnTo>
                    <a:pt x="27899" y="431369"/>
                  </a:lnTo>
                  <a:cubicBezTo>
                    <a:pt x="12491" y="431369"/>
                    <a:pt x="0" y="418878"/>
                    <a:pt x="0" y="403470"/>
                  </a:cubicBezTo>
                  <a:lnTo>
                    <a:pt x="0" y="27899"/>
                  </a:lnTo>
                  <a:cubicBezTo>
                    <a:pt x="0" y="12491"/>
                    <a:pt x="12491" y="0"/>
                    <a:pt x="27899" y="0"/>
                  </a:cubicBezTo>
                  <a:close/>
                </a:path>
              </a:pathLst>
            </a:custGeom>
            <a:blipFill>
              <a:blip r:embed="rId2"/>
              <a:stretch>
                <a:fillRect l="-140" t="0" r="-140" b="0"/>
              </a:stretch>
            </a:blipFill>
          </p:spPr>
        </p:sp>
      </p:grpSp>
      <p:grpSp>
        <p:nvGrpSpPr>
          <p:cNvPr name="Group 4" id="4"/>
          <p:cNvGrpSpPr/>
          <p:nvPr/>
        </p:nvGrpSpPr>
        <p:grpSpPr>
          <a:xfrm rot="0">
            <a:off x="9296400" y="5143500"/>
            <a:ext cx="8324850" cy="4476750"/>
            <a:chOff x="0" y="0"/>
            <a:chExt cx="802163" cy="431369"/>
          </a:xfrm>
        </p:grpSpPr>
        <p:sp>
          <p:nvSpPr>
            <p:cNvPr name="Freeform 5" id="5"/>
            <p:cNvSpPr/>
            <p:nvPr/>
          </p:nvSpPr>
          <p:spPr>
            <a:xfrm flipH="false" flipV="false" rot="0">
              <a:off x="0" y="0"/>
              <a:ext cx="802163" cy="431369"/>
            </a:xfrm>
            <a:custGeom>
              <a:avLst/>
              <a:gdLst/>
              <a:ahLst/>
              <a:cxnLst/>
              <a:rect r="r" b="b" t="t" l="l"/>
              <a:pathLst>
                <a:path h="431369" w="802163">
                  <a:moveTo>
                    <a:pt x="27899" y="0"/>
                  </a:moveTo>
                  <a:lnTo>
                    <a:pt x="774264" y="0"/>
                  </a:lnTo>
                  <a:cubicBezTo>
                    <a:pt x="789672" y="0"/>
                    <a:pt x="802163" y="12491"/>
                    <a:pt x="802163" y="27899"/>
                  </a:cubicBezTo>
                  <a:lnTo>
                    <a:pt x="802163" y="403470"/>
                  </a:lnTo>
                  <a:cubicBezTo>
                    <a:pt x="802163" y="410869"/>
                    <a:pt x="799224" y="417966"/>
                    <a:pt x="793992" y="423198"/>
                  </a:cubicBezTo>
                  <a:cubicBezTo>
                    <a:pt x="788759" y="428430"/>
                    <a:pt x="781663" y="431369"/>
                    <a:pt x="774264" y="431369"/>
                  </a:cubicBezTo>
                  <a:lnTo>
                    <a:pt x="27899" y="431369"/>
                  </a:lnTo>
                  <a:cubicBezTo>
                    <a:pt x="12491" y="431369"/>
                    <a:pt x="0" y="418878"/>
                    <a:pt x="0" y="403470"/>
                  </a:cubicBezTo>
                  <a:lnTo>
                    <a:pt x="0" y="27899"/>
                  </a:lnTo>
                  <a:cubicBezTo>
                    <a:pt x="0" y="12491"/>
                    <a:pt x="12491" y="0"/>
                    <a:pt x="27899" y="0"/>
                  </a:cubicBezTo>
                  <a:close/>
                </a:path>
              </a:pathLst>
            </a:custGeom>
            <a:blipFill>
              <a:blip r:embed="rId3"/>
              <a:stretch>
                <a:fillRect l="-140" t="0" r="-140" b="0"/>
              </a:stretch>
            </a:blipFill>
          </p:spPr>
        </p:sp>
      </p:grpSp>
      <p:sp>
        <p:nvSpPr>
          <p:cNvPr name="AutoShape 6" id="6"/>
          <p:cNvSpPr/>
          <p:nvPr/>
        </p:nvSpPr>
        <p:spPr>
          <a:xfrm>
            <a:off x="666750" y="2476500"/>
            <a:ext cx="8324850" cy="0"/>
          </a:xfrm>
          <a:prstGeom prst="line">
            <a:avLst/>
          </a:prstGeom>
          <a:ln cap="flat" w="28575">
            <a:solidFill>
              <a:srgbClr val="2A2A2A"/>
            </a:solidFill>
            <a:prstDash val="solid"/>
            <a:headEnd type="none" len="sm" w="sm"/>
            <a:tailEnd type="none" len="sm" w="sm"/>
          </a:ln>
        </p:spPr>
      </p:sp>
      <p:sp>
        <p:nvSpPr>
          <p:cNvPr name="AutoShape 7" id="7"/>
          <p:cNvSpPr/>
          <p:nvPr/>
        </p:nvSpPr>
        <p:spPr>
          <a:xfrm>
            <a:off x="9296400" y="2476500"/>
            <a:ext cx="8324850" cy="0"/>
          </a:xfrm>
          <a:prstGeom prst="line">
            <a:avLst/>
          </a:prstGeom>
          <a:ln cap="flat" w="28575">
            <a:solidFill>
              <a:srgbClr val="2A2A2A"/>
            </a:solidFill>
            <a:prstDash val="solid"/>
            <a:headEnd type="none" len="sm" w="sm"/>
            <a:tailEnd type="none" len="sm" w="sm"/>
          </a:ln>
        </p:spPr>
      </p:sp>
      <p:grpSp>
        <p:nvGrpSpPr>
          <p:cNvPr name="Group 8" id="8"/>
          <p:cNvGrpSpPr/>
          <p:nvPr/>
        </p:nvGrpSpPr>
        <p:grpSpPr>
          <a:xfrm rot="0">
            <a:off x="666750" y="3035443"/>
            <a:ext cx="8324850" cy="836645"/>
            <a:chOff x="0" y="0"/>
            <a:chExt cx="11099800" cy="1115526"/>
          </a:xfrm>
        </p:grpSpPr>
        <p:sp>
          <p:nvSpPr>
            <p:cNvPr name="TextBox 9" id="9"/>
            <p:cNvSpPr txBox="true"/>
            <p:nvPr/>
          </p:nvSpPr>
          <p:spPr>
            <a:xfrm rot="0">
              <a:off x="0" y="-38100"/>
              <a:ext cx="11099800" cy="462280"/>
            </a:xfrm>
            <a:prstGeom prst="rect">
              <a:avLst/>
            </a:prstGeom>
          </p:spPr>
          <p:txBody>
            <a:bodyPr anchor="t" rtlCol="false" tIns="0" lIns="0" bIns="0" rIns="0">
              <a:spAutoFit/>
            </a:bodyPr>
            <a:lstStyle/>
            <a:p>
              <a:pPr algn="l" marL="0" indent="0" lvl="0">
                <a:lnSpc>
                  <a:spcPts val="2940"/>
                </a:lnSpc>
              </a:pPr>
              <a:r>
                <a:rPr lang="en-US" b="true" sz="2100" spc="21">
                  <a:solidFill>
                    <a:srgbClr val="616161"/>
                  </a:solidFill>
                  <a:latin typeface="Be Vietnam Ultra-Bold"/>
                  <a:ea typeface="Be Vietnam Ultra-Bold"/>
                  <a:cs typeface="Be Vietnam Ultra-Bold"/>
                  <a:sym typeface="Be Vietnam Ultra-Bold"/>
                </a:rPr>
                <a:t>ML Engineering</a:t>
              </a:r>
            </a:p>
          </p:txBody>
        </p:sp>
        <p:sp>
          <p:nvSpPr>
            <p:cNvPr name="TextBox 10" id="10"/>
            <p:cNvSpPr txBox="true"/>
            <p:nvPr/>
          </p:nvSpPr>
          <p:spPr>
            <a:xfrm rot="0">
              <a:off x="0" y="688171"/>
              <a:ext cx="11099800" cy="427355"/>
            </a:xfrm>
            <a:prstGeom prst="rect">
              <a:avLst/>
            </a:prstGeom>
          </p:spPr>
          <p:txBody>
            <a:bodyPr anchor="t" rtlCol="false" tIns="0" lIns="0" bIns="0" rIns="0">
              <a:spAutoFit/>
            </a:bodyPr>
            <a:lstStyle/>
            <a:p>
              <a:pPr algn="l" marL="0" indent="0" lvl="0">
                <a:lnSpc>
                  <a:spcPts val="2880"/>
                </a:lnSpc>
              </a:pPr>
              <a:r>
                <a:rPr lang="en-US" sz="1800" spc="36">
                  <a:solidFill>
                    <a:srgbClr val="2A2A2A"/>
                  </a:solidFill>
                  <a:latin typeface="Be Vietnam"/>
                  <a:ea typeface="Be Vietnam"/>
                  <a:cs typeface="Be Vietnam"/>
                  <a:sym typeface="Be Vietnam"/>
                </a:rPr>
                <a:t>Develop and implement machine learning models for applications.</a:t>
              </a:r>
            </a:p>
          </p:txBody>
        </p:sp>
      </p:grpSp>
      <p:grpSp>
        <p:nvGrpSpPr>
          <p:cNvPr name="Group 11" id="11"/>
          <p:cNvGrpSpPr/>
          <p:nvPr/>
        </p:nvGrpSpPr>
        <p:grpSpPr>
          <a:xfrm rot="0">
            <a:off x="9296400" y="3035443"/>
            <a:ext cx="8324850" cy="836645"/>
            <a:chOff x="0" y="0"/>
            <a:chExt cx="11099800" cy="1115526"/>
          </a:xfrm>
        </p:grpSpPr>
        <p:sp>
          <p:nvSpPr>
            <p:cNvPr name="TextBox 12" id="12"/>
            <p:cNvSpPr txBox="true"/>
            <p:nvPr/>
          </p:nvSpPr>
          <p:spPr>
            <a:xfrm rot="0">
              <a:off x="0" y="-38100"/>
              <a:ext cx="11099800" cy="462280"/>
            </a:xfrm>
            <a:prstGeom prst="rect">
              <a:avLst/>
            </a:prstGeom>
          </p:spPr>
          <p:txBody>
            <a:bodyPr anchor="t" rtlCol="false" tIns="0" lIns="0" bIns="0" rIns="0">
              <a:spAutoFit/>
            </a:bodyPr>
            <a:lstStyle/>
            <a:p>
              <a:pPr algn="l" marL="0" indent="0" lvl="0">
                <a:lnSpc>
                  <a:spcPts val="2940"/>
                </a:lnSpc>
              </a:pPr>
              <a:r>
                <a:rPr lang="en-US" b="true" sz="2100" spc="21">
                  <a:solidFill>
                    <a:srgbClr val="616161"/>
                  </a:solidFill>
                  <a:latin typeface="Be Vietnam Ultra-Bold"/>
                  <a:ea typeface="Be Vietnam Ultra-Bold"/>
                  <a:cs typeface="Be Vietnam Ultra-Bold"/>
                  <a:sym typeface="Be Vietnam Ultra-Bold"/>
                </a:rPr>
                <a:t>Data Analyst</a:t>
              </a:r>
            </a:p>
          </p:txBody>
        </p:sp>
        <p:sp>
          <p:nvSpPr>
            <p:cNvPr name="TextBox 13" id="13"/>
            <p:cNvSpPr txBox="true"/>
            <p:nvPr/>
          </p:nvSpPr>
          <p:spPr>
            <a:xfrm rot="0">
              <a:off x="0" y="688171"/>
              <a:ext cx="11099800" cy="427355"/>
            </a:xfrm>
            <a:prstGeom prst="rect">
              <a:avLst/>
            </a:prstGeom>
          </p:spPr>
          <p:txBody>
            <a:bodyPr anchor="t" rtlCol="false" tIns="0" lIns="0" bIns="0" rIns="0">
              <a:spAutoFit/>
            </a:bodyPr>
            <a:lstStyle/>
            <a:p>
              <a:pPr algn="l" marL="0" indent="0" lvl="0">
                <a:lnSpc>
                  <a:spcPts val="2880"/>
                </a:lnSpc>
              </a:pPr>
              <a:r>
                <a:rPr lang="en-US" sz="1800" spc="36">
                  <a:solidFill>
                    <a:srgbClr val="2A2A2A"/>
                  </a:solidFill>
                  <a:latin typeface="Be Vietnam"/>
                  <a:ea typeface="Be Vietnam"/>
                  <a:cs typeface="Be Vietnam"/>
                  <a:sym typeface="Be Vietnam"/>
                </a:rPr>
                <a:t>Analyze data to derive actionable insights for businesses.</a:t>
              </a:r>
            </a:p>
          </p:txBody>
        </p:sp>
      </p:grpSp>
      <p:sp>
        <p:nvSpPr>
          <p:cNvPr name="TextBox 14" id="14"/>
          <p:cNvSpPr txBox="true"/>
          <p:nvPr/>
        </p:nvSpPr>
        <p:spPr>
          <a:xfrm rot="0">
            <a:off x="666750" y="800100"/>
            <a:ext cx="16954500" cy="963930"/>
          </a:xfrm>
          <a:prstGeom prst="rect">
            <a:avLst/>
          </a:prstGeom>
        </p:spPr>
        <p:txBody>
          <a:bodyPr anchor="t" rtlCol="false" tIns="0" lIns="0" bIns="0" rIns="0">
            <a:spAutoFit/>
          </a:bodyPr>
          <a:lstStyle/>
          <a:p>
            <a:pPr algn="l" marL="0" indent="0" lvl="0">
              <a:lnSpc>
                <a:spcPts val="7200"/>
              </a:lnSpc>
            </a:pPr>
            <a:r>
              <a:rPr lang="en-US" sz="7200">
                <a:solidFill>
                  <a:srgbClr val="2A2A2A"/>
                </a:solidFill>
                <a:latin typeface="Roca Two"/>
                <a:ea typeface="Roca Two"/>
                <a:cs typeface="Roca Two"/>
                <a:sym typeface="Roca Two"/>
              </a:rPr>
              <a:t>Exploring Career Paths in Data Science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2A2A2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499476"/>
            <a:ext cx="16954500" cy="1120774"/>
          </a:xfrm>
          <a:prstGeom prst="rect">
            <a:avLst/>
          </a:prstGeom>
        </p:spPr>
        <p:txBody>
          <a:bodyPr anchor="t" rtlCol="false" tIns="0" lIns="0" bIns="0" rIns="0">
            <a:spAutoFit/>
          </a:bodyPr>
          <a:lstStyle/>
          <a:p>
            <a:pPr algn="l" marL="0" indent="0" lvl="0">
              <a:lnSpc>
                <a:spcPts val="8499"/>
              </a:lnSpc>
            </a:pPr>
            <a:r>
              <a:rPr lang="en-US" sz="8499">
                <a:solidFill>
                  <a:srgbClr val="2A2A2A"/>
                </a:solidFill>
                <a:latin typeface="Roca Two"/>
                <a:ea typeface="Roca Two"/>
                <a:cs typeface="Roca Two"/>
                <a:sym typeface="Roca Two"/>
              </a:rPr>
              <a:t>Tools and Platforms for Success</a:t>
            </a:r>
          </a:p>
        </p:txBody>
      </p:sp>
      <p:grpSp>
        <p:nvGrpSpPr>
          <p:cNvPr name="Group 5" id="5"/>
          <p:cNvGrpSpPr/>
          <p:nvPr/>
        </p:nvGrpSpPr>
        <p:grpSpPr>
          <a:xfrm rot="0">
            <a:off x="9296400" y="1208474"/>
            <a:ext cx="4010025" cy="1458666"/>
            <a:chOff x="0" y="0"/>
            <a:chExt cx="5346700" cy="19448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Essential Tools</a:t>
              </a:r>
            </a:p>
          </p:txBody>
        </p:sp>
        <p:sp>
          <p:nvSpPr>
            <p:cNvPr name="TextBox 7" id="7"/>
            <p:cNvSpPr txBox="true"/>
            <p:nvPr/>
          </p:nvSpPr>
          <p:spPr>
            <a:xfrm rot="0">
              <a:off x="0" y="710448"/>
              <a:ext cx="5346700" cy="12344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2A2A2A"/>
                  </a:solidFill>
                  <a:latin typeface="Be Vietnam"/>
                  <a:ea typeface="Be Vietnam"/>
                  <a:cs typeface="Be Vietnam"/>
                  <a:sym typeface="Be Vietnam"/>
                </a:rPr>
                <a:t>Begin your journey with tools like </a:t>
              </a:r>
              <a:r>
                <a:rPr lang="en-US" b="true" sz="1800" spc="36">
                  <a:solidFill>
                    <a:srgbClr val="2A2A2A"/>
                  </a:solidFill>
                  <a:latin typeface="Be Vietnam Ultra-Bold"/>
                  <a:ea typeface="Be Vietnam Ultra-Bold"/>
                  <a:cs typeface="Be Vietnam Ultra-Bold"/>
                  <a:sym typeface="Be Vietnam Ultra-Bold"/>
                </a:rPr>
                <a:t>Python</a:t>
              </a:r>
              <a:r>
                <a:rPr lang="en-US" sz="1800" spc="36">
                  <a:solidFill>
                    <a:srgbClr val="2A2A2A"/>
                  </a:solidFill>
                  <a:latin typeface="Be Vietnam"/>
                  <a:ea typeface="Be Vietnam"/>
                  <a:cs typeface="Be Vietnam"/>
                  <a:sym typeface="Be Vietnam"/>
                </a:rPr>
                <a:t> and Jupyter notebooks for hands-on coding and analysis.</a:t>
              </a:r>
            </a:p>
          </p:txBody>
        </p:sp>
      </p:grpSp>
      <p:grpSp>
        <p:nvGrpSpPr>
          <p:cNvPr name="Group 8" id="8"/>
          <p:cNvGrpSpPr/>
          <p:nvPr/>
        </p:nvGrpSpPr>
        <p:grpSpPr>
          <a:xfrm rot="0">
            <a:off x="13611225" y="1208474"/>
            <a:ext cx="4010025" cy="6173541"/>
            <a:chOff x="0" y="0"/>
            <a:chExt cx="5346700" cy="82313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616161"/>
                  </a:solidFill>
                  <a:latin typeface="Be Vietnam Ultra-Bold"/>
                  <a:ea typeface="Be Vietnam Ultra-Bold"/>
                  <a:cs typeface="Be Vietnam Ultra-Bold"/>
                  <a:sym typeface="Be Vietnam Ultra-Bold"/>
                </a:rPr>
                <a:t>Platforms Overview</a:t>
              </a:r>
            </a:p>
          </p:txBody>
        </p:sp>
        <p:sp>
          <p:nvSpPr>
            <p:cNvPr name="TextBox 10" id="10"/>
            <p:cNvSpPr txBox="true"/>
            <p:nvPr/>
          </p:nvSpPr>
          <p:spPr>
            <a:xfrm rot="0">
              <a:off x="0" y="710448"/>
              <a:ext cx="5346700" cy="75209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2A2A2A"/>
                  </a:solidFill>
                  <a:latin typeface="Be Vietnam"/>
                  <a:ea typeface="Be Vietnam"/>
                  <a:cs typeface="Be Vietnam"/>
                  <a:sym typeface="Be Vietnam"/>
                </a:rPr>
                <a:t>Explore platforms such as </a:t>
              </a:r>
              <a:r>
                <a:rPr lang="en-US" b="true" sz="1800" spc="36">
                  <a:solidFill>
                    <a:srgbClr val="2A2A2A"/>
                  </a:solidFill>
                  <a:latin typeface="Be Vietnam Ultra-Bold"/>
                  <a:ea typeface="Be Vietnam Ultra-Bold"/>
                  <a:cs typeface="Be Vietnam Ultra-Bold"/>
                  <a:sym typeface="Be Vietnam Ultra-Bold"/>
                </a:rPr>
                <a:t>Kaggle</a:t>
              </a:r>
              <a:r>
                <a:rPr lang="en-US" sz="1800" spc="36">
                  <a:solidFill>
                    <a:srgbClr val="2A2A2A"/>
                  </a:solidFill>
                  <a:latin typeface="Be Vietnam"/>
                  <a:ea typeface="Be Vietnam"/>
                  <a:cs typeface="Be Vietnam"/>
                  <a:sym typeface="Be Vietnam"/>
                </a:rPr>
                <a:t> for datasets and competitions, enhancing practical skills in data science.</a:t>
              </a:r>
            </a:p>
            <a:p>
              <a:pPr algn="l" marL="0" indent="0" lvl="0">
                <a:lnSpc>
                  <a:spcPts val="2520"/>
                </a:lnSpc>
                <a:spcBef>
                  <a:spcPct val="0"/>
                </a:spcBef>
              </a:pPr>
            </a:p>
            <a:p>
              <a:pPr algn="l" marL="0" indent="0" lvl="0">
                <a:lnSpc>
                  <a:spcPts val="2520"/>
                </a:lnSpc>
                <a:spcBef>
                  <a:spcPct val="0"/>
                </a:spcBef>
              </a:pPr>
              <a:r>
                <a:rPr lang="en-US" sz="1800" spc="36">
                  <a:solidFill>
                    <a:srgbClr val="2A2A2A"/>
                  </a:solidFill>
                  <a:latin typeface="Be Vietnam"/>
                  <a:ea typeface="Be Vietnam"/>
                  <a:cs typeface="Be Vietnam"/>
                  <a:sym typeface="Be Vietnam"/>
                </a:rPr>
                <a:t>Hugging Face is a popular AI company and platform that provides tools, models, and datasets for machine learning, especially in natural language processing (NLP). It hosts a huge collection of pre-trained models that anyone can use, fine-tune, or deploy easily. Their Transformers library is widely used for tasks like text generation, translation, and sentiment analysis.</a:t>
              </a:r>
            </a:p>
            <a:p>
              <a:pPr algn="l" marL="0" indent="0" lvl="0">
                <a:lnSpc>
                  <a:spcPts val="2520"/>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4981575" y="1504950"/>
            <a:ext cx="11201400" cy="3948430"/>
          </a:xfrm>
          <a:prstGeom prst="rect">
            <a:avLst/>
          </a:prstGeom>
        </p:spPr>
        <p:txBody>
          <a:bodyPr anchor="t" rtlCol="false" tIns="0" lIns="0" bIns="0" rIns="0">
            <a:spAutoFit/>
          </a:bodyPr>
          <a:lstStyle/>
          <a:p>
            <a:pPr algn="l" marL="0" indent="0" lvl="0">
              <a:lnSpc>
                <a:spcPts val="3919"/>
              </a:lnSpc>
            </a:pPr>
            <a:r>
              <a:rPr lang="en-US" sz="2799" spc="55">
                <a:solidFill>
                  <a:srgbClr val="2A2A2A"/>
                </a:solidFill>
                <a:latin typeface="Be Vietnam"/>
                <a:ea typeface="Be Vietnam"/>
                <a:cs typeface="Be Vietnam"/>
                <a:sym typeface="Be Vietnam"/>
              </a:rPr>
              <a:t>To support your understanding of Data Science and AI, focus on these foundational topics:</a:t>
            </a:r>
          </a:p>
          <a:p>
            <a:pPr algn="l" marL="604519" indent="-302260" lvl="1">
              <a:lnSpc>
                <a:spcPts val="3919"/>
              </a:lnSpc>
              <a:buFont typeface="Arial"/>
              <a:buChar char="•"/>
            </a:pPr>
            <a:r>
              <a:rPr lang="en-US" b="true" sz="2799" spc="55">
                <a:solidFill>
                  <a:srgbClr val="2A2A2A"/>
                </a:solidFill>
                <a:latin typeface="Be Vietnam Ultra-Bold"/>
                <a:ea typeface="Be Vietnam Ultra-Bold"/>
                <a:cs typeface="Be Vietnam Ultra-Bold"/>
                <a:sym typeface="Be Vietnam Ultra-Bold"/>
              </a:rPr>
              <a:t>Linear Algebra</a:t>
            </a:r>
            <a:r>
              <a:rPr lang="en-US" sz="2799" spc="55">
                <a:solidFill>
                  <a:srgbClr val="2A2A2A"/>
                </a:solidFill>
                <a:latin typeface="Be Vietnam"/>
                <a:ea typeface="Be Vietnam"/>
                <a:cs typeface="Be Vietnam"/>
                <a:sym typeface="Be Vietnam"/>
              </a:rPr>
              <a:t>: Essential for understanding data transformations and machine learning algorithms.</a:t>
            </a:r>
          </a:p>
          <a:p>
            <a:pPr algn="l" marL="604519" indent="-302260" lvl="1">
              <a:lnSpc>
                <a:spcPts val="3919"/>
              </a:lnSpc>
              <a:buFont typeface="Arial"/>
              <a:buChar char="•"/>
            </a:pPr>
            <a:r>
              <a:rPr lang="en-US" b="true" sz="2799" spc="55">
                <a:solidFill>
                  <a:srgbClr val="2A2A2A"/>
                </a:solidFill>
                <a:latin typeface="Be Vietnam Ultra-Bold"/>
                <a:ea typeface="Be Vietnam Ultra-Bold"/>
                <a:cs typeface="Be Vietnam Ultra-Bold"/>
                <a:sym typeface="Be Vietnam Ultra-Bold"/>
              </a:rPr>
              <a:t>Statistics</a:t>
            </a:r>
            <a:r>
              <a:rPr lang="en-US" sz="2799" spc="55">
                <a:solidFill>
                  <a:srgbClr val="2A2A2A"/>
                </a:solidFill>
                <a:latin typeface="Be Vietnam"/>
                <a:ea typeface="Be Vietnam"/>
                <a:cs typeface="Be Vietnam"/>
                <a:sym typeface="Be Vietnam"/>
              </a:rPr>
              <a:t>: Key for interpreting data and evaluating model performance.</a:t>
            </a:r>
          </a:p>
          <a:p>
            <a:pPr algn="l" marL="0" indent="0" lvl="0">
              <a:lnSpc>
                <a:spcPts val="3919"/>
              </a:lnSpc>
            </a:pPr>
            <a:r>
              <a:rPr lang="en-US" sz="2799" spc="55">
                <a:solidFill>
                  <a:srgbClr val="2A2A2A"/>
                </a:solidFill>
                <a:latin typeface="Be Vietnam"/>
                <a:ea typeface="Be Vietnam"/>
                <a:cs typeface="Be Vietnam"/>
                <a:sym typeface="Be Vietnam"/>
              </a:rPr>
              <a:t>Recommended resources include textbooks, online courses, and cheat sheets for continuous learning.</a:t>
            </a:r>
          </a:p>
        </p:txBody>
      </p:sp>
      <p:sp>
        <p:nvSpPr>
          <p:cNvPr name="Freeform 3" id="3"/>
          <p:cNvSpPr/>
          <p:nvPr/>
        </p:nvSpPr>
        <p:spPr>
          <a:xfrm flipH="false" flipV="false" rot="0">
            <a:off x="2096952" y="1562100"/>
            <a:ext cx="1141548" cy="1147809"/>
          </a:xfrm>
          <a:custGeom>
            <a:avLst/>
            <a:gdLst/>
            <a:ahLst/>
            <a:cxnLst/>
            <a:rect r="r" b="b" t="t" l="l"/>
            <a:pathLst>
              <a:path h="1147809" w="1141548">
                <a:moveTo>
                  <a:pt x="0" y="0"/>
                </a:moveTo>
                <a:lnTo>
                  <a:pt x="1141548" y="0"/>
                </a:lnTo>
                <a:lnTo>
                  <a:pt x="1141548" y="1147809"/>
                </a:lnTo>
                <a:lnTo>
                  <a:pt x="0" y="1147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81575" y="1504950"/>
            <a:ext cx="11201400" cy="4939030"/>
          </a:xfrm>
          <a:prstGeom prst="rect">
            <a:avLst/>
          </a:prstGeom>
        </p:spPr>
        <p:txBody>
          <a:bodyPr anchor="t" rtlCol="false" tIns="0" lIns="0" bIns="0" rIns="0">
            <a:spAutoFit/>
          </a:bodyPr>
          <a:lstStyle/>
          <a:p>
            <a:pPr algn="l" marL="0" indent="0" lvl="0">
              <a:lnSpc>
                <a:spcPts val="3919"/>
              </a:lnSpc>
            </a:pPr>
            <a:r>
              <a:rPr lang="en-US" sz="2799" spc="55">
                <a:solidFill>
                  <a:srgbClr val="2A2A2A"/>
                </a:solidFill>
                <a:latin typeface="Be Vietnam"/>
                <a:ea typeface="Be Vietnam"/>
                <a:cs typeface="Be Vietnam"/>
                <a:sym typeface="Be Vietnam"/>
              </a:rPr>
              <a:t>Understanding </a:t>
            </a:r>
            <a:r>
              <a:rPr lang="en-US" b="true" sz="2799" spc="55">
                <a:solidFill>
                  <a:srgbClr val="2A2A2A"/>
                </a:solidFill>
                <a:latin typeface="Be Vietnam Ultra-Bold"/>
                <a:ea typeface="Be Vietnam Ultra-Bold"/>
                <a:cs typeface="Be Vietnam Ultra-Bold"/>
                <a:sym typeface="Be Vietnam Ultra-Bold"/>
              </a:rPr>
              <a:t>Linear Algebra</a:t>
            </a:r>
            <a:r>
              <a:rPr lang="en-US" sz="2799" spc="55">
                <a:solidFill>
                  <a:srgbClr val="2A2A2A"/>
                </a:solidFill>
                <a:latin typeface="Be Vietnam"/>
                <a:ea typeface="Be Vietnam"/>
                <a:cs typeface="Be Vietnam"/>
                <a:sym typeface="Be Vietnam"/>
              </a:rPr>
              <a:t> and </a:t>
            </a:r>
            <a:r>
              <a:rPr lang="en-US" b="true" sz="2799" spc="55">
                <a:solidFill>
                  <a:srgbClr val="2A2A2A"/>
                </a:solidFill>
                <a:latin typeface="Be Vietnam Ultra-Bold"/>
                <a:ea typeface="Be Vietnam Ultra-Bold"/>
                <a:cs typeface="Be Vietnam Ultra-Bold"/>
                <a:sym typeface="Be Vietnam Ultra-Bold"/>
              </a:rPr>
              <a:t>Statistics</a:t>
            </a:r>
            <a:r>
              <a:rPr lang="en-US" sz="2799" spc="55">
                <a:solidFill>
                  <a:srgbClr val="2A2A2A"/>
                </a:solidFill>
                <a:latin typeface="Be Vietnam"/>
                <a:ea typeface="Be Vietnam"/>
                <a:cs typeface="Be Vietnam"/>
                <a:sym typeface="Be Vietnam"/>
              </a:rPr>
              <a:t> is crucial for mastering ML/AI. Key areas include:</a:t>
            </a:r>
          </a:p>
          <a:p>
            <a:pPr algn="l" marL="604519" indent="-302260" lvl="1">
              <a:lnSpc>
                <a:spcPts val="3919"/>
              </a:lnSpc>
              <a:buFont typeface="Arial"/>
              <a:buChar char="•"/>
            </a:pPr>
            <a:r>
              <a:rPr lang="en-US" b="true" sz="2799" spc="55">
                <a:solidFill>
                  <a:srgbClr val="2A2A2A"/>
                </a:solidFill>
                <a:latin typeface="Be Vietnam Ultra-Bold"/>
                <a:ea typeface="Be Vietnam Ultra-Bold"/>
                <a:cs typeface="Be Vietnam Ultra-Bold"/>
                <a:sym typeface="Be Vietnam Ultra-Bold"/>
              </a:rPr>
              <a:t>Linear Algebra</a:t>
            </a:r>
            <a:r>
              <a:rPr lang="en-US" sz="2799" spc="55">
                <a:solidFill>
                  <a:srgbClr val="2A2A2A"/>
                </a:solidFill>
                <a:latin typeface="Be Vietnam"/>
                <a:ea typeface="Be Vietnam"/>
                <a:cs typeface="Be Vietnam"/>
                <a:sym typeface="Be Vietnam"/>
              </a:rPr>
              <a:t> concepts: matrices, vectors, transformations</a:t>
            </a:r>
          </a:p>
          <a:p>
            <a:pPr algn="l" marL="604519" indent="-302260" lvl="1">
              <a:lnSpc>
                <a:spcPts val="3919"/>
              </a:lnSpc>
              <a:buFont typeface="Arial"/>
              <a:buChar char="•"/>
            </a:pPr>
            <a:r>
              <a:rPr lang="en-US" b="true" sz="2799" spc="55">
                <a:solidFill>
                  <a:srgbClr val="2A2A2A"/>
                </a:solidFill>
                <a:latin typeface="Be Vietnam Ultra-Bold"/>
                <a:ea typeface="Be Vietnam Ultra-Bold"/>
                <a:cs typeface="Be Vietnam Ultra-Bold"/>
                <a:sym typeface="Be Vietnam Ultra-Bold"/>
              </a:rPr>
              <a:t>Statistics</a:t>
            </a:r>
            <a:r>
              <a:rPr lang="en-US" sz="2799" spc="55">
                <a:solidFill>
                  <a:srgbClr val="2A2A2A"/>
                </a:solidFill>
                <a:latin typeface="Be Vietnam"/>
                <a:ea typeface="Be Vietnam"/>
                <a:cs typeface="Be Vietnam"/>
                <a:sym typeface="Be Vietnam"/>
              </a:rPr>
              <a:t> fundamentals: probability distributions, hypothesis testing, regression analysis</a:t>
            </a:r>
          </a:p>
          <a:p>
            <a:pPr algn="l" marL="604519" indent="-302260" lvl="1">
              <a:lnSpc>
                <a:spcPts val="3919"/>
              </a:lnSpc>
              <a:buFont typeface="Arial"/>
              <a:buChar char="•"/>
            </a:pPr>
            <a:r>
              <a:rPr lang="en-US" b="true" sz="2799" spc="55">
                <a:solidFill>
                  <a:srgbClr val="2A2A2A"/>
                </a:solidFill>
                <a:latin typeface="Be Vietnam Ultra-Bold"/>
                <a:ea typeface="Be Vietnam Ultra-Bold"/>
                <a:cs typeface="Be Vietnam Ultra-Bold"/>
                <a:sym typeface="Be Vietnam Ultra-Bold"/>
              </a:rPr>
              <a:t>Data manipulation</a:t>
            </a:r>
            <a:r>
              <a:rPr lang="en-US" sz="2799" spc="55">
                <a:solidFill>
                  <a:srgbClr val="2A2A2A"/>
                </a:solidFill>
                <a:latin typeface="Be Vietnam"/>
                <a:ea typeface="Be Vietnam"/>
                <a:cs typeface="Be Vietnam"/>
                <a:sym typeface="Be Vietnam"/>
              </a:rPr>
              <a:t>: essential for algorithm implementation and data preprocessing methods</a:t>
            </a:r>
          </a:p>
          <a:p>
            <a:pPr algn="l" marL="604519" indent="-302260" lvl="1">
              <a:lnSpc>
                <a:spcPts val="3919"/>
              </a:lnSpc>
              <a:buFont typeface="Arial"/>
              <a:buChar char="•"/>
            </a:pPr>
            <a:r>
              <a:rPr lang="en-US" sz="2799" spc="55">
                <a:solidFill>
                  <a:srgbClr val="2A2A2A"/>
                </a:solidFill>
                <a:latin typeface="Be Vietnam"/>
                <a:ea typeface="Be Vietnam"/>
                <a:cs typeface="Be Vietnam"/>
                <a:sym typeface="Be Vietnam"/>
              </a:rPr>
              <a:t>Continuous learning: explore resources for deeper insights and applications in ML/AI.</a:t>
            </a:r>
          </a:p>
        </p:txBody>
      </p:sp>
      <p:sp>
        <p:nvSpPr>
          <p:cNvPr name="Freeform 3" id="3"/>
          <p:cNvSpPr/>
          <p:nvPr/>
        </p:nvSpPr>
        <p:spPr>
          <a:xfrm flipH="false" flipV="false" rot="0">
            <a:off x="2096952" y="1562100"/>
            <a:ext cx="1141548" cy="1147809"/>
          </a:xfrm>
          <a:custGeom>
            <a:avLst/>
            <a:gdLst/>
            <a:ahLst/>
            <a:cxnLst/>
            <a:rect r="r" b="b" t="t" l="l"/>
            <a:pathLst>
              <a:path h="1147809" w="1141548">
                <a:moveTo>
                  <a:pt x="0" y="0"/>
                </a:moveTo>
                <a:lnTo>
                  <a:pt x="1141548" y="0"/>
                </a:lnTo>
                <a:lnTo>
                  <a:pt x="1141548" y="1147809"/>
                </a:lnTo>
                <a:lnTo>
                  <a:pt x="0" y="1147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TextBox 2" id="2"/>
          <p:cNvSpPr txBox="true"/>
          <p:nvPr/>
        </p:nvSpPr>
        <p:spPr>
          <a:xfrm rot="0">
            <a:off x="666750" y="927735"/>
            <a:ext cx="12639675" cy="3368674"/>
          </a:xfrm>
          <a:prstGeom prst="rect">
            <a:avLst/>
          </a:prstGeom>
        </p:spPr>
        <p:txBody>
          <a:bodyPr anchor="t" rtlCol="false" tIns="0" lIns="0" bIns="0" rIns="0">
            <a:spAutoFit/>
          </a:bodyPr>
          <a:lstStyle/>
          <a:p>
            <a:pPr algn="l" marL="0" indent="0" lvl="0">
              <a:lnSpc>
                <a:spcPts val="12999"/>
              </a:lnSpc>
            </a:pPr>
            <a:r>
              <a:rPr lang="en-US" sz="12999">
                <a:solidFill>
                  <a:srgbClr val="2A2A2A"/>
                </a:solidFill>
                <a:latin typeface="Roca Two"/>
                <a:ea typeface="Roca Two"/>
                <a:cs typeface="Roca Two"/>
                <a:sym typeface="Roca Two"/>
              </a:rPr>
              <a:t>Thank You for Joining Us</a:t>
            </a:r>
          </a:p>
        </p:txBody>
      </p:sp>
      <p:grpSp>
        <p:nvGrpSpPr>
          <p:cNvPr name="Group 3" id="3"/>
          <p:cNvGrpSpPr/>
          <p:nvPr/>
        </p:nvGrpSpPr>
        <p:grpSpPr>
          <a:xfrm rot="0">
            <a:off x="666750" y="6937958"/>
            <a:ext cx="4010025" cy="883920"/>
            <a:chOff x="0" y="0"/>
            <a:chExt cx="5346700" cy="1178560"/>
          </a:xfrm>
        </p:grpSpPr>
        <p:sp>
          <p:nvSpPr>
            <p:cNvPr name="TextBox 4" id="4"/>
            <p:cNvSpPr txBox="true"/>
            <p:nvPr/>
          </p:nvSpPr>
          <p:spPr>
            <a:xfrm rot="0">
              <a:off x="0" y="-66675"/>
              <a:ext cx="5346700" cy="427355"/>
            </a:xfrm>
            <a:prstGeom prst="rect">
              <a:avLst/>
            </a:prstGeom>
          </p:spPr>
          <p:txBody>
            <a:bodyPr anchor="t" rtlCol="false" tIns="0" lIns="0" bIns="0" rIns="0">
              <a:spAutoFit/>
            </a:bodyPr>
            <a:lstStyle/>
            <a:p>
              <a:pPr algn="l" marL="0" indent="0" lvl="0">
                <a:lnSpc>
                  <a:spcPts val="2880"/>
                </a:lnSpc>
              </a:pPr>
              <a:r>
                <a:rPr lang="en-US" b="true" sz="1800" spc="36" u="none">
                  <a:solidFill>
                    <a:srgbClr val="2A2A2A"/>
                  </a:solidFill>
                  <a:latin typeface="Be Vietnam Ultra-Bold"/>
                  <a:ea typeface="Be Vietnam Ultra-Bold"/>
                  <a:cs typeface="Be Vietnam Ultra-Bold"/>
                  <a:sym typeface="Be Vietnam Ultra-Bold"/>
                </a:rPr>
                <a:t>Email</a:t>
              </a:r>
            </a:p>
          </p:txBody>
        </p:sp>
        <p:sp>
          <p:nvSpPr>
            <p:cNvPr name="TextBox 5" id="5"/>
            <p:cNvSpPr txBox="true"/>
            <p:nvPr/>
          </p:nvSpPr>
          <p:spPr>
            <a:xfrm rot="0">
              <a:off x="0" y="716280"/>
              <a:ext cx="5346700" cy="462280"/>
            </a:xfrm>
            <a:prstGeom prst="rect">
              <a:avLst/>
            </a:prstGeom>
          </p:spPr>
          <p:txBody>
            <a:bodyPr anchor="t" rtlCol="false" tIns="0" lIns="0" bIns="0" rIns="0">
              <a:spAutoFit/>
            </a:bodyPr>
            <a:lstStyle/>
            <a:p>
              <a:pPr algn="l" marL="0" indent="0" lvl="0">
                <a:lnSpc>
                  <a:spcPts val="2940"/>
                </a:lnSpc>
              </a:pPr>
              <a:r>
                <a:rPr lang="en-US" sz="2100" spc="21">
                  <a:solidFill>
                    <a:srgbClr val="2A2A2A"/>
                  </a:solidFill>
                  <a:latin typeface="Be Vietnam"/>
                  <a:ea typeface="Be Vietnam"/>
                  <a:cs typeface="Be Vietnam"/>
                  <a:sym typeface="Be Vietnam"/>
                </a:rPr>
                <a:t>semonshaikat702@gmail.com</a:t>
              </a:r>
            </a:p>
          </p:txBody>
        </p:sp>
      </p:grpSp>
      <p:grpSp>
        <p:nvGrpSpPr>
          <p:cNvPr name="Group 6" id="6"/>
          <p:cNvGrpSpPr/>
          <p:nvPr/>
        </p:nvGrpSpPr>
        <p:grpSpPr>
          <a:xfrm rot="0">
            <a:off x="666750" y="8724900"/>
            <a:ext cx="4671104" cy="887678"/>
            <a:chOff x="0" y="0"/>
            <a:chExt cx="6228138" cy="1183570"/>
          </a:xfrm>
        </p:grpSpPr>
        <p:sp>
          <p:nvSpPr>
            <p:cNvPr name="TextBox 7" id="7"/>
            <p:cNvSpPr txBox="true"/>
            <p:nvPr/>
          </p:nvSpPr>
          <p:spPr>
            <a:xfrm rot="0">
              <a:off x="0" y="-66675"/>
              <a:ext cx="6228138" cy="427355"/>
            </a:xfrm>
            <a:prstGeom prst="rect">
              <a:avLst/>
            </a:prstGeom>
          </p:spPr>
          <p:txBody>
            <a:bodyPr anchor="t" rtlCol="false" tIns="0" lIns="0" bIns="0" rIns="0">
              <a:spAutoFit/>
            </a:bodyPr>
            <a:lstStyle/>
            <a:p>
              <a:pPr algn="l" marL="0" indent="0" lvl="0">
                <a:lnSpc>
                  <a:spcPts val="2880"/>
                </a:lnSpc>
              </a:pPr>
              <a:r>
                <a:rPr lang="en-US" b="true" sz="1800" spc="36">
                  <a:solidFill>
                    <a:srgbClr val="2A2A2A"/>
                  </a:solidFill>
                  <a:latin typeface="Be Vietnam Ultra-Bold"/>
                  <a:ea typeface="Be Vietnam Ultra-Bold"/>
                  <a:cs typeface="Be Vietnam Ultra-Bold"/>
                  <a:sym typeface="Be Vietnam Ultra-Bold"/>
                </a:rPr>
                <a:t>Follow Us</a:t>
              </a:r>
            </a:p>
          </p:txBody>
        </p:sp>
        <p:sp>
          <p:nvSpPr>
            <p:cNvPr name="TextBox 8" id="8"/>
            <p:cNvSpPr txBox="true"/>
            <p:nvPr/>
          </p:nvSpPr>
          <p:spPr>
            <a:xfrm rot="0">
              <a:off x="0" y="721290"/>
              <a:ext cx="6228138" cy="462280"/>
            </a:xfrm>
            <a:prstGeom prst="rect">
              <a:avLst/>
            </a:prstGeom>
          </p:spPr>
          <p:txBody>
            <a:bodyPr anchor="t" rtlCol="false" tIns="0" lIns="0" bIns="0" rIns="0">
              <a:spAutoFit/>
            </a:bodyPr>
            <a:lstStyle/>
            <a:p>
              <a:pPr algn="l" marL="0" indent="0" lvl="0">
                <a:lnSpc>
                  <a:spcPts val="2940"/>
                </a:lnSpc>
              </a:pPr>
              <a:r>
                <a:rPr lang="en-US" sz="2100" spc="21" u="sng">
                  <a:solidFill>
                    <a:srgbClr val="2A2A2A"/>
                  </a:solidFill>
                  <a:latin typeface="Be Vietnam"/>
                  <a:ea typeface="Be Vietnam"/>
                  <a:cs typeface="Be Vietnam"/>
                  <a:sym typeface="Be Vietnam"/>
                  <a:hlinkClick r:id="rId2" tooltip="http://www.linkedin.com/in/shaikat702"/>
                </a:rPr>
                <a:t>www.</a:t>
              </a:r>
              <a:r>
                <a:rPr lang="en-US" sz="2100" spc="21" u="sng">
                  <a:solidFill>
                    <a:srgbClr val="2A2A2A"/>
                  </a:solidFill>
                  <a:latin typeface="Be Vietnam"/>
                  <a:ea typeface="Be Vietnam"/>
                  <a:cs typeface="Be Vietnam"/>
                  <a:sym typeface="Be Vietnam"/>
                  <a:hlinkClick r:id="rId3" tooltip="http://www.linkedin.com/in/shaikat702"/>
                </a:rPr>
                <a:t>linkedin.com/in/shaikat702</a:t>
              </a:r>
            </a:p>
          </p:txBody>
        </p:sp>
      </p:grpSp>
      <p:grpSp>
        <p:nvGrpSpPr>
          <p:cNvPr name="Group 9" id="9"/>
          <p:cNvGrpSpPr/>
          <p:nvPr/>
        </p:nvGrpSpPr>
        <p:grpSpPr>
          <a:xfrm rot="0">
            <a:off x="6438318" y="8724900"/>
            <a:ext cx="3991557" cy="887678"/>
            <a:chOff x="0" y="0"/>
            <a:chExt cx="5322076" cy="1183570"/>
          </a:xfrm>
        </p:grpSpPr>
        <p:sp>
          <p:nvSpPr>
            <p:cNvPr name="TextBox 10" id="10"/>
            <p:cNvSpPr txBox="true"/>
            <p:nvPr/>
          </p:nvSpPr>
          <p:spPr>
            <a:xfrm rot="0">
              <a:off x="0" y="-66675"/>
              <a:ext cx="5322076" cy="427355"/>
            </a:xfrm>
            <a:prstGeom prst="rect">
              <a:avLst/>
            </a:prstGeom>
          </p:spPr>
          <p:txBody>
            <a:bodyPr anchor="t" rtlCol="false" tIns="0" lIns="0" bIns="0" rIns="0">
              <a:spAutoFit/>
            </a:bodyPr>
            <a:lstStyle/>
            <a:p>
              <a:pPr algn="l" marL="0" indent="0" lvl="0">
                <a:lnSpc>
                  <a:spcPts val="2880"/>
                </a:lnSpc>
              </a:pPr>
              <a:r>
                <a:rPr lang="en-US" b="true" sz="1800" spc="36">
                  <a:solidFill>
                    <a:srgbClr val="2A2A2A"/>
                  </a:solidFill>
                  <a:latin typeface="Be Vietnam Ultra-Bold"/>
                  <a:ea typeface="Be Vietnam Ultra-Bold"/>
                  <a:cs typeface="Be Vietnam Ultra-Bold"/>
                  <a:sym typeface="Be Vietnam Ultra-Bold"/>
                </a:rPr>
                <a:t>Phone</a:t>
              </a:r>
            </a:p>
          </p:txBody>
        </p:sp>
        <p:sp>
          <p:nvSpPr>
            <p:cNvPr name="TextBox 11" id="11"/>
            <p:cNvSpPr txBox="true"/>
            <p:nvPr/>
          </p:nvSpPr>
          <p:spPr>
            <a:xfrm rot="0">
              <a:off x="0" y="721290"/>
              <a:ext cx="5322076" cy="4622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A2A2A"/>
                  </a:solidFill>
                  <a:latin typeface="Be Vietnam"/>
                  <a:ea typeface="Be Vietnam"/>
                  <a:cs typeface="Be Vietnam"/>
                  <a:sym typeface="Be Vietnam"/>
                </a:rPr>
                <a:t>01946923532</a:t>
              </a:r>
            </a:p>
          </p:txBody>
        </p:sp>
      </p:grpSp>
      <p:sp>
        <p:nvSpPr>
          <p:cNvPr name="Freeform 12" id="12"/>
          <p:cNvSpPr/>
          <p:nvPr/>
        </p:nvSpPr>
        <p:spPr>
          <a:xfrm flipH="false" flipV="false" rot="0">
            <a:off x="15049500" y="7026723"/>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Class 01: Introduction to Data Science and AI/ML</dc:description>
  <dc:identifier>DAG_r0Lv7_k</dc:identifier>
  <dcterms:modified xsi:type="dcterms:W3CDTF">2011-08-01T06:04:30Z</dcterms:modified>
  <cp:revision>1</cp:revision>
  <dc:title>Presentation - Class 01: Introduction to Data Science and AI/ML</dc:title>
</cp:coreProperties>
</file>